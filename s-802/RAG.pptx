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  <p:embeddedFont>
      <p:font typeface="Poppins"/>
      <p:regular r:id="rId22"/>
      <p:bold r:id="rId23"/>
      <p:italic r:id="rId24"/>
      <p:boldItalic r:id="rId25"/>
    </p:embeddedFont>
    <p:embeddedFont>
      <p:font typeface="Poppins Light"/>
      <p:regular r:id="rId26"/>
      <p:bold r:id="rId27"/>
      <p:italic r:id="rId28"/>
      <p:boldItalic r:id="rId29"/>
    </p:embeddedFont>
    <p:embeddedFont>
      <p:font typeface="Roboto Mon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4" roundtripDataSignature="AMtx7mg9lwjiCsv+RgJmEhKqWXDMTFq2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22" Type="http://schemas.openxmlformats.org/officeDocument/2006/relationships/font" Target="fonts/Poppins-regular.fntdata"/><Relationship Id="rId21" Type="http://schemas.openxmlformats.org/officeDocument/2006/relationships/font" Target="fonts/Lato-boldItalic.fntdata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oppinsLight-regular.fntdata"/><Relationship Id="rId25" Type="http://schemas.openxmlformats.org/officeDocument/2006/relationships/font" Target="fonts/Poppins-boldItalic.fntdata"/><Relationship Id="rId28" Type="http://schemas.openxmlformats.org/officeDocument/2006/relationships/font" Target="fonts/PoppinsLight-italic.fntdata"/><Relationship Id="rId27" Type="http://schemas.openxmlformats.org/officeDocument/2006/relationships/font" Target="fonts/PoppinsLight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oppinsLight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Mono-bold.fntdata"/><Relationship Id="rId30" Type="http://schemas.openxmlformats.org/officeDocument/2006/relationships/font" Target="fonts/RobotoMono-regular.fntdata"/><Relationship Id="rId11" Type="http://schemas.openxmlformats.org/officeDocument/2006/relationships/slide" Target="slides/slide7.xml"/><Relationship Id="rId33" Type="http://schemas.openxmlformats.org/officeDocument/2006/relationships/font" Target="fonts/RobotoMono-boldItalic.fntdata"/><Relationship Id="rId10" Type="http://schemas.openxmlformats.org/officeDocument/2006/relationships/slide" Target="slides/slide6.xml"/><Relationship Id="rId32" Type="http://schemas.openxmlformats.org/officeDocument/2006/relationships/font" Target="fonts/RobotoMono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34" Type="http://customschemas.google.com/relationships/presentationmetadata" Target="metadata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19" Type="http://schemas.openxmlformats.org/officeDocument/2006/relationships/font" Target="fonts/Lato-bold.fntdata"/><Relationship Id="rId18" Type="http://schemas.openxmlformats.org/officeDocument/2006/relationships/font" Target="fonts/La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p2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2741d4528c_0_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2741d4528c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6260710be9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6260710b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2741d4528c_0_1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2741d4528c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2741d4528c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g32741d4528c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275211e1a5_0_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275211e1a5_0_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275211e1a5_0_0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275211e1a5_0_0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g3275211e1a5_0_0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3275211e1a5_0_0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2741d4528c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g32741d4528c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2741d4528c_0_66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2741d4528c_0_66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2741d4528c_0_661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2741d4528c_0_661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g32741d4528c_0_661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32741d4528c_0_661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 showMasterSp="0" type="obj">
  <p:cSld name="OBJEC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4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6233" y="4724153"/>
            <a:ext cx="414749" cy="248824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55"/>
          <p:cNvSpPr txBox="1"/>
          <p:nvPr>
            <p:ph idx="11" type="ftr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55"/>
          <p:cNvSpPr txBox="1"/>
          <p:nvPr>
            <p:ph idx="10" type="dt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4826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56"/>
          <p:cNvSpPr txBox="1"/>
          <p:nvPr>
            <p:ph idx="11" type="ftr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56"/>
          <p:cNvSpPr txBox="1"/>
          <p:nvPr>
            <p:ph idx="10" type="dt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482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57"/>
          <p:cNvSpPr txBox="1"/>
          <p:nvPr>
            <p:ph idx="1" type="body"/>
          </p:nvPr>
        </p:nvSpPr>
        <p:spPr>
          <a:xfrm>
            <a:off x="444649" y="1300197"/>
            <a:ext cx="3833813" cy="318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b="0" i="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57"/>
          <p:cNvSpPr txBox="1"/>
          <p:nvPr>
            <p:ph idx="2" type="body"/>
          </p:nvPr>
        </p:nvSpPr>
        <p:spPr>
          <a:xfrm>
            <a:off x="6020013" y="1365185"/>
            <a:ext cx="2432685" cy="318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b="0" i="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" name="Google Shape;35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4826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8"/>
          <p:cNvSpPr txBox="1"/>
          <p:nvPr>
            <p:ph type="title"/>
          </p:nvPr>
        </p:nvSpPr>
        <p:spPr>
          <a:xfrm>
            <a:off x="433846" y="286942"/>
            <a:ext cx="8271775" cy="569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8"/>
          <p:cNvSpPr txBox="1"/>
          <p:nvPr>
            <p:ph idx="12" type="sldNum"/>
          </p:nvPr>
        </p:nvSpPr>
        <p:spPr>
          <a:xfrm>
            <a:off x="8556784" y="4749851"/>
            <a:ext cx="548775" cy="3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2" name="Google Shape;42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" name="Google Shape;4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6" name="Google Shape;4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" name="Google Shape;50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" name="Google Shape;5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4" name="Google Shape;54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" name="Google Shape;5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8" name="Google Shape;5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2" name="Google Shape;62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3" name="Google Shape;63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"/>
          <p:cNvSpPr txBox="1"/>
          <p:nvPr/>
        </p:nvSpPr>
        <p:spPr>
          <a:xfrm>
            <a:off x="311700" y="3153075"/>
            <a:ext cx="85206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Data Science and Machine Learning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" name="Google Shape;77;p1"/>
          <p:cNvSpPr txBox="1"/>
          <p:nvPr/>
        </p:nvSpPr>
        <p:spPr>
          <a:xfrm>
            <a:off x="311700" y="3560975"/>
            <a:ext cx="85206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Generative AI II</a:t>
            </a:r>
            <a:endParaRPr b="0" i="0" sz="1400" u="none" cap="none" strike="noStrike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8" name="Google Shape;7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86563" y="1393225"/>
            <a:ext cx="1570875" cy="157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00904" y="72862"/>
            <a:ext cx="2599849" cy="2803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732950" y="3742975"/>
            <a:ext cx="2599849" cy="2803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7"/>
          <p:cNvSpPr txBox="1"/>
          <p:nvPr>
            <p:ph type="title"/>
          </p:nvPr>
        </p:nvSpPr>
        <p:spPr>
          <a:xfrm>
            <a:off x="2454196" y="1998468"/>
            <a:ext cx="4177983" cy="1127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-350520" lvl="0" marL="356553" marR="254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2800"/>
              <a:buNone/>
            </a:pPr>
            <a:r>
              <a:rPr lang="en" sz="3600"/>
              <a:t>Retrieval augmented generation (RAG)</a:t>
            </a:r>
            <a:endParaRPr sz="3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2741d4528c_0_60"/>
          <p:cNvSpPr txBox="1"/>
          <p:nvPr>
            <p:ph type="title"/>
          </p:nvPr>
        </p:nvSpPr>
        <p:spPr>
          <a:xfrm>
            <a:off x="760276" y="819919"/>
            <a:ext cx="3429300" cy="11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4200"/>
              <a:buFont typeface="Montserrat SemiBold"/>
              <a:buNone/>
            </a:pPr>
            <a:r>
              <a:rPr lang="en" sz="42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RAGs</a:t>
            </a:r>
            <a:endParaRPr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" name="Google Shape;91;g32741d4528c_0_60"/>
          <p:cNvSpPr txBox="1"/>
          <p:nvPr/>
        </p:nvSpPr>
        <p:spPr>
          <a:xfrm>
            <a:off x="760279" y="1479616"/>
            <a:ext cx="7099200" cy="7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400" u="none" cap="none" strike="noStrike">
                <a:solidFill>
                  <a:srgbClr val="666666"/>
                </a:solidFill>
                <a:latin typeface="Poppins Light"/>
                <a:ea typeface="Poppins Light"/>
                <a:cs typeface="Poppins Light"/>
                <a:sym typeface="Poppins Light"/>
              </a:rPr>
              <a:t>RAG is a cutting-edge NLP technique that combines document retrieval with generative models. It retrieves relevant information from a database and uses it as input to generate accurate, context-specific response</a:t>
            </a:r>
            <a:endParaRPr b="0" i="0" sz="1400" u="none" cap="none" strike="noStrike">
              <a:solidFill>
                <a:srgbClr val="666666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400" u="none" cap="none" strike="noStrike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Benefits:</a:t>
            </a:r>
            <a:endParaRPr b="1" i="0" sz="1400" u="none" cap="none" strike="noStrike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Poppins Light"/>
              <a:buChar char="-"/>
            </a:pPr>
            <a:r>
              <a:rPr b="0" i="0" lang="en" sz="1200" u="none" cap="none" strike="noStrike">
                <a:solidFill>
                  <a:srgbClr val="666666"/>
                </a:solidFill>
                <a:latin typeface="Poppins Light"/>
                <a:ea typeface="Poppins Light"/>
                <a:cs typeface="Poppins Light"/>
                <a:sym typeface="Poppins Light"/>
              </a:rPr>
              <a:t>✅ Accuracy: Responses are grounded in reliable sources.</a:t>
            </a:r>
            <a:endParaRPr b="0" i="0" sz="1200" u="none" cap="none" strike="noStrike">
              <a:solidFill>
                <a:srgbClr val="666666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Poppins Light"/>
              <a:buChar char="-"/>
            </a:pPr>
            <a:r>
              <a:rPr b="0" i="0" lang="en" sz="1200" u="none" cap="none" strike="noStrike">
                <a:solidFill>
                  <a:srgbClr val="666666"/>
                </a:solidFill>
                <a:latin typeface="Poppins Light"/>
                <a:ea typeface="Poppins Light"/>
                <a:cs typeface="Poppins Light"/>
                <a:sym typeface="Poppins Light"/>
              </a:rPr>
              <a:t>🔹 Context Awareness: Adaptable to the user’s input and specific needs.</a:t>
            </a:r>
            <a:endParaRPr b="0" i="0" sz="1200" u="none" cap="none" strike="noStrike">
              <a:solidFill>
                <a:srgbClr val="666666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Poppins Light"/>
              <a:buChar char="-"/>
            </a:pPr>
            <a:r>
              <a:rPr b="0" i="0" lang="en" sz="1200" u="none" cap="none" strike="noStrike">
                <a:solidFill>
                  <a:srgbClr val="666666"/>
                </a:solidFill>
                <a:latin typeface="Poppins Light"/>
                <a:ea typeface="Poppins Light"/>
                <a:cs typeface="Poppins Light"/>
                <a:sym typeface="Poppins Light"/>
              </a:rPr>
              <a:t>🔹 Scalability: Handles vast amounts of data efficiently.Applications:</a:t>
            </a:r>
            <a:endParaRPr b="0" i="0" sz="1200" u="none" cap="none" strike="noStrike">
              <a:solidFill>
                <a:srgbClr val="666666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Poppins Light"/>
              <a:buChar char="-"/>
            </a:pPr>
            <a:r>
              <a:rPr b="0" i="0" lang="en" sz="1200" u="none" cap="none" strike="noStrike">
                <a:solidFill>
                  <a:srgbClr val="666666"/>
                </a:solidFill>
                <a:latin typeface="Poppins Light"/>
                <a:ea typeface="Poppins Light"/>
                <a:cs typeface="Poppins Light"/>
                <a:sym typeface="Poppins Light"/>
              </a:rPr>
              <a:t>🔌 Chatbots for customer support.</a:t>
            </a:r>
            <a:endParaRPr b="0" i="0" sz="1200" u="none" cap="none" strike="noStrike">
              <a:solidFill>
                <a:srgbClr val="666666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Poppins Light"/>
              <a:buChar char="-"/>
            </a:pPr>
            <a:r>
              <a:rPr b="0" i="0" lang="en" sz="1200" u="none" cap="none" strike="noStrike">
                <a:solidFill>
                  <a:srgbClr val="666666"/>
                </a:solidFill>
                <a:latin typeface="Poppins Light"/>
                <a:ea typeface="Poppins Light"/>
                <a:cs typeface="Poppins Light"/>
                <a:sym typeface="Poppins Light"/>
              </a:rPr>
              <a:t>🕵️‍♂️ Question-answering systems for research.</a:t>
            </a:r>
            <a:endParaRPr b="0" i="0" sz="1200" u="none" cap="none" strike="noStrike">
              <a:solidFill>
                <a:srgbClr val="666666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Poppins Light"/>
              <a:buChar char="-"/>
            </a:pPr>
            <a:r>
              <a:rPr b="0" i="0" lang="en" sz="1200" u="none" cap="none" strike="noStrike">
                <a:solidFill>
                  <a:srgbClr val="666666"/>
                </a:solidFill>
                <a:latin typeface="Poppins Light"/>
                <a:ea typeface="Poppins Light"/>
                <a:cs typeface="Poppins Light"/>
                <a:sym typeface="Poppins Light"/>
              </a:rPr>
              <a:t>📈 Technical document analysis for specialists</a:t>
            </a:r>
            <a:endParaRPr b="0" i="0" sz="1200" u="none" cap="none" strike="noStrike">
              <a:solidFill>
                <a:srgbClr val="666666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5E5E5E"/>
              </a:buClr>
              <a:buSzPts val="1100"/>
              <a:buFont typeface="Montserrat Light"/>
              <a:buNone/>
            </a:pPr>
            <a:r>
              <a:t/>
            </a:r>
            <a:endParaRPr b="0" i="0" sz="2000" u="none" cap="none" strike="noStrike">
              <a:solidFill>
                <a:srgbClr val="666666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6260710be9_0_0"/>
          <p:cNvSpPr txBox="1"/>
          <p:nvPr>
            <p:ph type="title"/>
          </p:nvPr>
        </p:nvSpPr>
        <p:spPr>
          <a:xfrm>
            <a:off x="760274" y="819925"/>
            <a:ext cx="5879700" cy="11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4200"/>
              <a:buFont typeface="Montserrat SemiBold"/>
              <a:buNone/>
            </a:pPr>
            <a:r>
              <a:rPr lang="en" sz="42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RAG vs Fine-Tuning</a:t>
            </a:r>
            <a:endParaRPr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" name="Google Shape;97;g36260710be9_0_0"/>
          <p:cNvSpPr txBox="1"/>
          <p:nvPr/>
        </p:nvSpPr>
        <p:spPr>
          <a:xfrm>
            <a:off x="859050" y="1663725"/>
            <a:ext cx="8297700" cy="33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No training required</a:t>
            </a:r>
            <a:r>
              <a:rPr lang="en" sz="1100">
                <a:solidFill>
                  <a:schemeClr val="dk1"/>
                </a:solidFill>
              </a:rPr>
              <a:t> – You don’t need to modify the model.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Faster and cheaper</a:t>
            </a:r>
            <a:r>
              <a:rPr lang="en" sz="1100">
                <a:solidFill>
                  <a:schemeClr val="dk1"/>
                </a:solidFill>
              </a:rPr>
              <a:t> – No GPU training, no long processing times.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Easily updatable</a:t>
            </a:r>
            <a:r>
              <a:rPr lang="en" sz="1100">
                <a:solidFill>
                  <a:schemeClr val="dk1"/>
                </a:solidFill>
              </a:rPr>
              <a:t> – Just update or swap the documents, no need to retrain.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Access to recent or private data</a:t>
            </a:r>
            <a:r>
              <a:rPr lang="en" sz="1100">
                <a:solidFill>
                  <a:schemeClr val="dk1"/>
                </a:solidFill>
              </a:rPr>
              <a:t> – You can include documents with up-to-date or company-specific information.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Explainable outputs</a:t>
            </a:r>
            <a:r>
              <a:rPr lang="en" sz="1100">
                <a:solidFill>
                  <a:schemeClr val="dk1"/>
                </a:solidFill>
              </a:rPr>
              <a:t> – RAG retrieves relevant documents, so you can see where the answer came from.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Lower risk of overfitting</a:t>
            </a:r>
            <a:r>
              <a:rPr lang="en" sz="1100">
                <a:solidFill>
                  <a:schemeClr val="dk1"/>
                </a:solidFill>
              </a:rPr>
              <a:t> – Your data stays external; the model doesn't memorize it.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Scalable</a:t>
            </a:r>
            <a:r>
              <a:rPr lang="en" sz="1100">
                <a:solidFill>
                  <a:schemeClr val="dk1"/>
                </a:solidFill>
              </a:rPr>
              <a:t> – Add more documents without increasing the model size.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2741d4528c_0_140"/>
          <p:cNvSpPr txBox="1"/>
          <p:nvPr>
            <p:ph type="title"/>
          </p:nvPr>
        </p:nvSpPr>
        <p:spPr>
          <a:xfrm>
            <a:off x="760274" y="819925"/>
            <a:ext cx="5748600" cy="11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4200"/>
              <a:buFont typeface="Montserrat SemiBold"/>
              <a:buNone/>
            </a:pPr>
            <a:r>
              <a:rPr lang="en" sz="42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RAG Workflow</a:t>
            </a:r>
            <a:endParaRPr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" name="Google Shape;103;g32741d4528c_0_140"/>
          <p:cNvSpPr txBox="1"/>
          <p:nvPr/>
        </p:nvSpPr>
        <p:spPr>
          <a:xfrm>
            <a:off x="618300" y="1162125"/>
            <a:ext cx="7907400" cy="23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-"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🔎 </a:t>
            </a: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Document Retrieval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Locate relevant information from a document store or database based on a user’s query.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-"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🔬 </a:t>
            </a: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Embeddings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Use embeddings (dense numerical vectors) to represent text, enabling efficient similarity search and retrieval.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-"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🤖 </a:t>
            </a: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Feed the retrieved data into a generative model to produce responses tailored to the user’s query.</a:t>
            </a:r>
            <a:endParaRPr b="0" i="0" sz="1400" u="none" cap="none" strike="noStrike">
              <a:solidFill>
                <a:srgbClr val="666666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descr="Implementing RAG with Langchain and Hugging Face | by Akriti Upadhyay |  Accredian | Medium" id="104" name="Google Shape;104;g32741d4528c_0_1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3425" y="2333850"/>
            <a:ext cx="5657151" cy="239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2741d4528c_0_147"/>
          <p:cNvSpPr txBox="1"/>
          <p:nvPr>
            <p:ph type="title"/>
          </p:nvPr>
        </p:nvSpPr>
        <p:spPr>
          <a:xfrm>
            <a:off x="2227200" y="2026500"/>
            <a:ext cx="46896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-350520" lvl="0" marL="356552" marR="254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2800"/>
              <a:buNone/>
            </a:pPr>
            <a:r>
              <a:rPr lang="en" sz="3600"/>
              <a:t>Embeddings Overview</a:t>
            </a:r>
            <a:endParaRPr sz="3600"/>
          </a:p>
        </p:txBody>
      </p:sp>
      <p:sp>
        <p:nvSpPr>
          <p:cNvPr id="110" name="Google Shape;110;g32741d4528c_0_147"/>
          <p:cNvSpPr txBox="1"/>
          <p:nvPr/>
        </p:nvSpPr>
        <p:spPr>
          <a:xfrm>
            <a:off x="2695050" y="3115525"/>
            <a:ext cx="3753900" cy="10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🔹 </a:t>
            </a: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OpenAI Embeddings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High-quality, general-purpose models (e.g., </a:t>
            </a:r>
            <a:r>
              <a:rPr b="0" i="0" lang="en" sz="11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text-embedding-ada-002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🔹 </a:t>
            </a: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SentenceTransformers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Lightweight, domain-specific models like </a:t>
            </a:r>
            <a:r>
              <a:rPr b="0" i="0" lang="en" sz="11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all-MiniLM-L6-v2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275211e1a5_0_0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275211e1a5_0_0"/>
          <p:cNvSpPr txBox="1"/>
          <p:nvPr/>
        </p:nvSpPr>
        <p:spPr>
          <a:xfrm>
            <a:off x="270575" y="207118"/>
            <a:ext cx="79839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" sz="29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Cosine Similarity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275211e1a5_0_0"/>
          <p:cNvSpPr txBox="1"/>
          <p:nvPr/>
        </p:nvSpPr>
        <p:spPr>
          <a:xfrm>
            <a:off x="270575" y="847400"/>
            <a:ext cx="85095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Cosine similarity</a:t>
            </a:r>
            <a:r>
              <a:rPr b="0" i="0" lang="en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measures how similar two vectors are by calculating the cosine of the angle between them.</a:t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2" name="Google Shape;122;g3275211e1a5_0_0"/>
          <p:cNvPicPr preferRelativeResize="0"/>
          <p:nvPr/>
        </p:nvPicPr>
        <p:blipFill rotWithShape="1">
          <a:blip r:embed="rId4">
            <a:alphaModFix/>
          </a:blip>
          <a:srcRect b="12901" l="12689" r="12576" t="27778"/>
          <a:stretch/>
        </p:blipFill>
        <p:spPr>
          <a:xfrm>
            <a:off x="1931300" y="2017475"/>
            <a:ext cx="4490002" cy="2004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2741d4528c_0_681"/>
          <p:cNvSpPr txBox="1"/>
          <p:nvPr>
            <p:ph type="title"/>
          </p:nvPr>
        </p:nvSpPr>
        <p:spPr>
          <a:xfrm>
            <a:off x="3473850" y="2291550"/>
            <a:ext cx="46896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-350520" lvl="0" marL="356552" marR="254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2800"/>
              <a:buNone/>
            </a:pPr>
            <a:r>
              <a:rPr lang="en" sz="3600"/>
              <a:t>ChromaDB</a:t>
            </a:r>
            <a:endParaRPr sz="3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2741d4528c_0_661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32741d4528c_0_661"/>
          <p:cNvSpPr txBox="1"/>
          <p:nvPr/>
        </p:nvSpPr>
        <p:spPr>
          <a:xfrm>
            <a:off x="762000" y="673969"/>
            <a:ext cx="79839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" sz="29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ChromaDB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2741d4528c_0_661"/>
          <p:cNvSpPr txBox="1"/>
          <p:nvPr/>
        </p:nvSpPr>
        <p:spPr>
          <a:xfrm>
            <a:off x="762000" y="1331850"/>
            <a:ext cx="7749900" cy="19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ChromaDB is a vector database designed for efficiently storing and retrieving embeddings.</a:t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🔹 </a:t>
            </a: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Use ChromaDB?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Enables fast similarity searches.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Scales well with large datasets.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🔹 </a:t>
            </a: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It Works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Documents ➔ Embeddings ➔ Stored in ChromaDB for efficient retrieval.</a:t>
            </a:r>
            <a:endParaRPr b="1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9" name="Google Shape;139;g32741d4528c_0_6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42200" y="3248250"/>
            <a:ext cx="4859594" cy="205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